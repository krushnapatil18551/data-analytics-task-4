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ApexPlanet – Data Storytelling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Task 4: Data Storytelling &amp; Statistical Validation</a:t>
            </a:r>
          </a:p>
          <a:p>
            <a:pPr>
              <a:spcAft>
                <a:spcPts val="1200"/>
              </a:spcAft>
              <a:defRPr sz="2000"/>
            </a:pPr>
            <a:r>
              <a:t>Synthesizing insights from Tasks 1–3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Total sales: ₹139,399,439.65</a:t>
            </a:r>
          </a:p>
          <a:p>
            <a:pPr>
              <a:spcAft>
                <a:spcPts val="1200"/>
              </a:spcAft>
              <a:defRPr sz="2000"/>
            </a:pPr>
            <a:r>
              <a:t>Orders: 1,000 | AOV: ₹139,399.44</a:t>
            </a:r>
          </a:p>
          <a:p>
            <a:pPr>
              <a:spcAft>
                <a:spcPts val="1200"/>
              </a:spcAft>
              <a:defRPr sz="2000"/>
            </a:pPr>
            <a:r>
              <a:t>Unique customers: 947 | Quantity sold: 5,435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Top category: Electronics (₹50,778,581.70)</a:t>
            </a:r>
          </a:p>
          <a:p>
            <a:pPr>
              <a:spcAft>
                <a:spcPts val="1200"/>
              </a:spcAft>
              <a:defRPr sz="2000"/>
            </a:pPr>
            <a:r>
              <a:t>Top product: Laptop (₹25,443,008.51)</a:t>
            </a:r>
          </a:p>
          <a:p>
            <a:pPr>
              <a:spcAft>
                <a:spcPts val="1200"/>
              </a:spcAft>
              <a:defRPr sz="2000"/>
            </a:pPr>
            <a:r>
              <a:t>Top city: Patna (₹19,285,966.89)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&amp; Trend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Use the Task 3 dashboard to filter by City, Category and Gender.</a:t>
            </a:r>
          </a:p>
          <a:p>
            <a:pPr>
              <a:spcAft>
                <a:spcPts val="1200"/>
              </a:spcAft>
              <a:defRPr sz="2000"/>
            </a:pPr>
            <a:r>
              <a:t>Monitor monthly sales for peaks, dips and changing demand.</a:t>
            </a:r>
          </a:p>
          <a:p>
            <a:pPr>
              <a:spcAft>
                <a:spcPts val="1200"/>
              </a:spcAft>
              <a:defRPr sz="2000"/>
            </a:pPr>
            <a:r>
              <a:t>Move from overall KPIs to specific business segments.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H0: Average order sales are equal for Female and Male.</a:t>
            </a:r>
          </a:p>
          <a:p>
            <a:pPr>
              <a:spcAft>
                <a:spcPts val="1200"/>
              </a:spcAft>
              <a:defRPr sz="2000"/>
            </a:pPr>
            <a:r>
              <a:t>H1: Average order sales are different.</a:t>
            </a:r>
          </a:p>
          <a:p>
            <a:pPr>
              <a:spcAft>
                <a:spcPts val="1200"/>
              </a:spcAft>
              <a:defRPr sz="2000"/>
            </a:pPr>
            <a:r>
              <a:t>Welch t-test: t=-0.6826, p=0.495011, α=0.05.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Fail to reject H0: no statistically significant difference.</a:t>
            </a:r>
          </a:p>
          <a:p>
            <a:pPr>
              <a:spcAft>
                <a:spcPts val="1200"/>
              </a:spcAft>
              <a:defRPr sz="2000"/>
            </a:pPr>
            <a:r>
              <a:t>Statistical significance should be considered alongside practical business impact.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Prioritize the strongest category: Electronics.</a:t>
            </a:r>
          </a:p>
          <a:p>
            <a:pPr>
              <a:spcAft>
                <a:spcPts val="1200"/>
              </a:spcAft>
              <a:defRPr sz="2000"/>
            </a:pPr>
            <a:r>
              <a:t>Review the leading product and city: Laptop, Patna.</a:t>
            </a:r>
          </a:p>
          <a:p>
            <a:pPr>
              <a:spcAft>
                <a:spcPts val="1200"/>
              </a:spcAft>
              <a:defRPr sz="2000"/>
            </a:pPr>
            <a:r>
              <a:t>Monitor monthly performance.</a:t>
            </a:r>
          </a:p>
          <a:p>
            <a:pPr>
              <a:spcAft>
                <a:spcPts val="1200"/>
              </a:spcAft>
              <a:defRPr sz="2000"/>
            </a:pPr>
            <a:r>
              <a:t>Use statistical evidence plus business context for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Turn high-performing areas into measurable growth actions.</a:t>
            </a:r>
          </a:p>
          <a:p>
            <a:pPr>
              <a:spcAft>
                <a:spcPts val="1200"/>
              </a:spcAft>
              <a:defRPr sz="2000"/>
            </a:pPr>
            <a:r>
              <a:t>Investigate weaker areas for improvement.</a:t>
            </a:r>
          </a:p>
          <a:p>
            <a:pPr>
              <a:spcAft>
                <a:spcPts val="1200"/>
              </a:spcAft>
              <a:defRPr sz="2000"/>
            </a:pPr>
            <a:r>
              <a:t>Refresh the dashboard and statistical tests as new data arrives.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